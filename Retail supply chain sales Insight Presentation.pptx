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2"/>
  </p:notesMasterIdLst>
  <p:sldIdLst>
    <p:sldId id="270" r:id="rId2"/>
    <p:sldId id="257" r:id="rId3"/>
    <p:sldId id="258" r:id="rId4"/>
    <p:sldId id="286" r:id="rId5"/>
    <p:sldId id="278" r:id="rId6"/>
    <p:sldId id="279" r:id="rId7"/>
    <p:sldId id="280" r:id="rId8"/>
    <p:sldId id="281" r:id="rId9"/>
    <p:sldId id="282" r:id="rId10"/>
    <p:sldId id="271" r:id="rId11"/>
    <p:sldId id="272" r:id="rId12"/>
    <p:sldId id="263" r:id="rId13"/>
    <p:sldId id="283" r:id="rId14"/>
    <p:sldId id="284" r:id="rId15"/>
    <p:sldId id="266" r:id="rId16"/>
    <p:sldId id="267" r:id="rId17"/>
    <p:sldId id="274" r:id="rId18"/>
    <p:sldId id="285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F3B831-EEDA-4C5E-A494-8DB54F0CE03A}">
          <p14:sldIdLst>
            <p14:sldId id="270"/>
            <p14:sldId id="257"/>
          </p14:sldIdLst>
        </p14:section>
        <p14:section name="Untitled Section" id="{B657B616-3044-415E-B3FD-9A9B18346B01}">
          <p14:sldIdLst>
            <p14:sldId id="258"/>
            <p14:sldId id="286"/>
            <p14:sldId id="278"/>
            <p14:sldId id="279"/>
            <p14:sldId id="280"/>
            <p14:sldId id="281"/>
            <p14:sldId id="282"/>
            <p14:sldId id="271"/>
            <p14:sldId id="272"/>
            <p14:sldId id="263"/>
            <p14:sldId id="283"/>
            <p14:sldId id="284"/>
            <p14:sldId id="266"/>
            <p14:sldId id="267"/>
            <p14:sldId id="274"/>
            <p14:sldId id="285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87" autoAdjust="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44B2C-1918-447D-9617-AFBE22A2C2B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8F34C-F80E-474D-B1EB-73947B614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0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3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51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85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2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8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53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8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12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289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5639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01432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452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2679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623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18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24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001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9AB6-66A7-4847-8410-57FDE7A3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629" y="672353"/>
            <a:ext cx="6034741" cy="770157"/>
          </a:xfrm>
        </p:spPr>
        <p:txBody>
          <a:bodyPr/>
          <a:lstStyle/>
          <a:p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4B0D6-C03B-45A3-921B-1E3C5AFEA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8629" y="2113652"/>
            <a:ext cx="6249893" cy="91520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Project: Retail Supply Chain Sales Dashboard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Md.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Zubayer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Hasan</a:t>
            </a:r>
          </a:p>
        </p:txBody>
      </p:sp>
    </p:spTree>
    <p:extLst>
      <p:ext uri="{BB962C8B-B14F-4D97-AF65-F5344CB8AC3E}">
        <p14:creationId xmlns:p14="http://schemas.microsoft.com/office/powerpoint/2010/main" val="54980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A6F5-CAC0-4C42-9585-E904792A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91" y="592904"/>
            <a:ext cx="7141792" cy="75180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BF8A-939D-4AD4-8280-CDFA1D95C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845734"/>
            <a:ext cx="7796540" cy="226010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Focused on analyzing key performance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 high-performing products and customer segmentation.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discount and pricing strategies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above trends</a:t>
            </a:r>
          </a:p>
        </p:txBody>
      </p:sp>
    </p:spTree>
    <p:extLst>
      <p:ext uri="{BB962C8B-B14F-4D97-AF65-F5344CB8AC3E}">
        <p14:creationId xmlns:p14="http://schemas.microsoft.com/office/powerpoint/2010/main" val="284937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B51D-FD4C-4BF6-8240-8CA30E5D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988" y="562758"/>
            <a:ext cx="8242459" cy="93434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2BC7-C02C-4D4D-BED5-3B79230D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717" y="2345267"/>
            <a:ext cx="6986566" cy="144232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Retail Supply Chain Sales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Kaggle (.xlsx file)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Cleaning: Handled missing values, formatted dates.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23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4E55-EED9-4B60-9DCD-068289BC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605" y="210672"/>
            <a:ext cx="8282735" cy="838200"/>
          </a:xfrm>
        </p:spPr>
        <p:txBody>
          <a:bodyPr/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preprocessing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C1E38-5974-4283-BB34-CB06125B4A36}"/>
              </a:ext>
            </a:extLst>
          </p:cNvPr>
          <p:cNvSpPr/>
          <p:nvPr/>
        </p:nvSpPr>
        <p:spPr>
          <a:xfrm>
            <a:off x="5020236" y="1187825"/>
            <a:ext cx="1783976" cy="7082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E3B8C-1269-4DDB-91C2-C8D1C9275158}"/>
              </a:ext>
            </a:extLst>
          </p:cNvPr>
          <p:cNvSpPr/>
          <p:nvPr/>
        </p:nvSpPr>
        <p:spPr>
          <a:xfrm>
            <a:off x="1506067" y="3173510"/>
            <a:ext cx="3110752" cy="240253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null entries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missing profit values with the average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 directly in Excel before visualization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6502D7-D14F-4922-AA8C-0BB9ED07EDCC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912224" y="1896036"/>
            <a:ext cx="4482" cy="428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D049CD8-9E9B-4FAA-9216-6724A7AF124C}"/>
              </a:ext>
            </a:extLst>
          </p:cNvPr>
          <p:cNvSpPr/>
          <p:nvPr/>
        </p:nvSpPr>
        <p:spPr>
          <a:xfrm>
            <a:off x="7422778" y="3173510"/>
            <a:ext cx="3110752" cy="240253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Formatted Dates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date strings to proper Date Time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 directly in Excel before visualization.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0A2C31-5D32-40A3-B21B-F0668C4855D2}"/>
              </a:ext>
            </a:extLst>
          </p:cNvPr>
          <p:cNvCxnSpPr>
            <a:cxnSpLocks/>
          </p:cNvCxnSpPr>
          <p:nvPr/>
        </p:nvCxnSpPr>
        <p:spPr>
          <a:xfrm>
            <a:off x="3065929" y="2324100"/>
            <a:ext cx="58405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1C98C4-810E-4958-B820-4F705A799567}"/>
              </a:ext>
            </a:extLst>
          </p:cNvPr>
          <p:cNvCxnSpPr/>
          <p:nvPr/>
        </p:nvCxnSpPr>
        <p:spPr>
          <a:xfrm>
            <a:off x="3065929" y="2324100"/>
            <a:ext cx="0" cy="849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701E8D-8B54-4324-814A-1C9B22A3DC4D}"/>
              </a:ext>
            </a:extLst>
          </p:cNvPr>
          <p:cNvCxnSpPr/>
          <p:nvPr/>
        </p:nvCxnSpPr>
        <p:spPr>
          <a:xfrm>
            <a:off x="8910919" y="2324100"/>
            <a:ext cx="0" cy="849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69E7-40BF-4ADE-A14F-556CF757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17" y="134469"/>
            <a:ext cx="3379695" cy="784411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F1BC17-666E-43C1-A526-3DCE3CB7276E}"/>
              </a:ext>
            </a:extLst>
          </p:cNvPr>
          <p:cNvCxnSpPr>
            <a:cxnSpLocks/>
          </p:cNvCxnSpPr>
          <p:nvPr/>
        </p:nvCxnSpPr>
        <p:spPr>
          <a:xfrm>
            <a:off x="5800165" y="2339788"/>
            <a:ext cx="0" cy="3056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350AEB-F361-498E-B685-DFD15D588DC1}"/>
              </a:ext>
            </a:extLst>
          </p:cNvPr>
          <p:cNvCxnSpPr>
            <a:cxnSpLocks/>
          </p:cNvCxnSpPr>
          <p:nvPr/>
        </p:nvCxnSpPr>
        <p:spPr>
          <a:xfrm>
            <a:off x="5800165" y="2339788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05D01B-ED03-490E-894F-1AE80FB48FC2}"/>
              </a:ext>
            </a:extLst>
          </p:cNvPr>
          <p:cNvSpPr/>
          <p:nvPr/>
        </p:nvSpPr>
        <p:spPr>
          <a:xfrm>
            <a:off x="7010396" y="1250577"/>
            <a:ext cx="3594829" cy="231288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trends Over 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Region-wise Total Volume Percentage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Contributions by Customer Segment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Category-wise Gross Volume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Sub-category-wise Total Quantity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 mode wise gross volume and profit</a:t>
            </a:r>
          </a:p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F80ED7-2DA9-4FD5-B228-0AFC18BE23CC}"/>
              </a:ext>
            </a:extLst>
          </p:cNvPr>
          <p:cNvCxnSpPr/>
          <p:nvPr/>
        </p:nvCxnSpPr>
        <p:spPr>
          <a:xfrm flipH="1">
            <a:off x="4580965" y="3693459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923724C-145E-4511-BBCB-0FC284E413CD}"/>
              </a:ext>
            </a:extLst>
          </p:cNvPr>
          <p:cNvSpPr/>
          <p:nvPr/>
        </p:nvSpPr>
        <p:spPr>
          <a:xfrm>
            <a:off x="1389531" y="3115235"/>
            <a:ext cx="3191433" cy="11564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profitability 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of Highly Returned Sub-category</a:t>
            </a:r>
          </a:p>
          <a:p>
            <a:endParaRPr lang="en-US" sz="1700" dirty="0"/>
          </a:p>
          <a:p>
            <a:pPr algn="ctr"/>
            <a:endParaRPr lang="en-US" sz="17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CC8D9C-BA0C-49DA-9AB1-019102BC27E8}"/>
              </a:ext>
            </a:extLst>
          </p:cNvPr>
          <p:cNvCxnSpPr/>
          <p:nvPr/>
        </p:nvCxnSpPr>
        <p:spPr>
          <a:xfrm>
            <a:off x="5800165" y="5396753"/>
            <a:ext cx="1210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4F9F8D3-A3DB-4E54-9124-5B3D61545A0C}"/>
              </a:ext>
            </a:extLst>
          </p:cNvPr>
          <p:cNvSpPr/>
          <p:nvPr/>
        </p:nvSpPr>
        <p:spPr>
          <a:xfrm>
            <a:off x="7010400" y="5011271"/>
            <a:ext cx="3594825" cy="88077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3 Years Revenue Prediction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4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D250-4B8C-459A-ADCA-C0A1A166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094" y="327212"/>
            <a:ext cx="6151187" cy="87405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E47E37-4596-47C8-B959-E6808136B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54" y="1314102"/>
            <a:ext cx="3478306" cy="2495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B9CCA-4384-4D51-AA11-171DAB74DA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00"/>
          <a:stretch/>
        </p:blipFill>
        <p:spPr>
          <a:xfrm>
            <a:off x="62753" y="3953436"/>
            <a:ext cx="4969538" cy="2805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BFF7B-63DF-4F39-AB94-A0DC78B0A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920" y="3953436"/>
            <a:ext cx="3478306" cy="2805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4D7194-6EF5-4531-8E5C-A8F3A8E60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854" y="3953435"/>
            <a:ext cx="3478306" cy="2805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6EE6B9-D5CC-42CC-AFB2-8180D7B25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3" y="1314102"/>
            <a:ext cx="4969538" cy="2495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2E63B7-C165-43C7-AC75-7FB582F74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955" y="1314101"/>
            <a:ext cx="3478306" cy="24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7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4CAD-94C5-433B-AD5E-0ACFC9BC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63071"/>
            <a:ext cx="7155234" cy="90095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Analysis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1903A-660E-41F7-B573-060641DA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0" y="1851211"/>
            <a:ext cx="4581665" cy="3155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883023-5B58-42DD-84EF-4F00D3481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996" y="1851211"/>
            <a:ext cx="4474086" cy="3155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E65B6-2F46-43B5-9DA4-0E57943A9B50}"/>
              </a:ext>
            </a:extLst>
          </p:cNvPr>
          <p:cNvSpPr txBox="1"/>
          <p:nvPr/>
        </p:nvSpPr>
        <p:spPr>
          <a:xfrm>
            <a:off x="2160010" y="5143961"/>
            <a:ext cx="2309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A103E-4C5C-44B5-8DCD-3B207A54B0FA}"/>
              </a:ext>
            </a:extLst>
          </p:cNvPr>
          <p:cNvSpPr txBox="1"/>
          <p:nvPr/>
        </p:nvSpPr>
        <p:spPr>
          <a:xfrm>
            <a:off x="7197131" y="5143961"/>
            <a:ext cx="2933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returned Sub-category</a:t>
            </a:r>
          </a:p>
        </p:txBody>
      </p:sp>
    </p:spTree>
    <p:extLst>
      <p:ext uri="{BB962C8B-B14F-4D97-AF65-F5344CB8AC3E}">
        <p14:creationId xmlns:p14="http://schemas.microsoft.com/office/powerpoint/2010/main" val="110103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4A16-D871-4C45-B2A2-F6D620AE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418" y="336177"/>
            <a:ext cx="7135254" cy="829235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14554-B3E1-42BE-9EFB-2DD66621E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575" y="1972237"/>
            <a:ext cx="5288850" cy="2823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1A6EF-CBE3-4C5F-9BAF-969E64D6BBC6}"/>
              </a:ext>
            </a:extLst>
          </p:cNvPr>
          <p:cNvSpPr txBox="1"/>
          <p:nvPr/>
        </p:nvSpPr>
        <p:spPr>
          <a:xfrm>
            <a:off x="4509540" y="4876800"/>
            <a:ext cx="317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3 years revenue prediction</a:t>
            </a:r>
          </a:p>
        </p:txBody>
      </p:sp>
    </p:spTree>
    <p:extLst>
      <p:ext uri="{BB962C8B-B14F-4D97-AF65-F5344CB8AC3E}">
        <p14:creationId xmlns:p14="http://schemas.microsoft.com/office/powerpoint/2010/main" val="129570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DA1D-0BD3-49CE-B128-37D71E97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126" y="264459"/>
            <a:ext cx="7771748" cy="891988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CAE5F0-F859-4FE3-8B84-B017D9FDC3D1}"/>
              </a:ext>
            </a:extLst>
          </p:cNvPr>
          <p:cNvCxnSpPr>
            <a:cxnSpLocks/>
          </p:cNvCxnSpPr>
          <p:nvPr/>
        </p:nvCxnSpPr>
        <p:spPr>
          <a:xfrm flipV="1">
            <a:off x="1613647" y="1922928"/>
            <a:ext cx="8686800" cy="31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71B642-FECF-4D66-9888-7F51F892417F}"/>
              </a:ext>
            </a:extLst>
          </p:cNvPr>
          <p:cNvCxnSpPr/>
          <p:nvPr/>
        </p:nvCxnSpPr>
        <p:spPr>
          <a:xfrm>
            <a:off x="1613647" y="1954306"/>
            <a:ext cx="0" cy="1004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62184F8-ACCA-4937-B5F6-845F7471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80" y="2958353"/>
            <a:ext cx="1431448" cy="63826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878A8D-6F10-4A61-A932-B4F7E2CC374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635728" y="1954306"/>
            <a:ext cx="0" cy="98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0BEA759-B77A-4E89-BC17-279D54FBC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095" y="2944063"/>
            <a:ext cx="1181265" cy="666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11CDC6-E0AF-4051-B9CE-6AB5A43B7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411" y="2944063"/>
            <a:ext cx="1552792" cy="666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187F8A-FB64-4D5E-BF8D-07E2AC1CB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9254" y="2938738"/>
            <a:ext cx="1600423" cy="6668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A03617-1479-41F0-B205-F8D23477B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8701" y="2929774"/>
            <a:ext cx="2105319" cy="66684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A59824-FC2E-40DE-B4E2-67DBE610FF29}"/>
              </a:ext>
            </a:extLst>
          </p:cNvPr>
          <p:cNvCxnSpPr/>
          <p:nvPr/>
        </p:nvCxnSpPr>
        <p:spPr>
          <a:xfrm>
            <a:off x="5638800" y="1942543"/>
            <a:ext cx="0" cy="1015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5D7109-AF73-46A3-82A7-3D331F3758BB}"/>
              </a:ext>
            </a:extLst>
          </p:cNvPr>
          <p:cNvCxnSpPr/>
          <p:nvPr/>
        </p:nvCxnSpPr>
        <p:spPr>
          <a:xfrm>
            <a:off x="7844118" y="1942543"/>
            <a:ext cx="0" cy="99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79259A-079C-4431-A77C-F8315FB5E436}"/>
              </a:ext>
            </a:extLst>
          </p:cNvPr>
          <p:cNvCxnSpPr>
            <a:cxnSpLocks/>
          </p:cNvCxnSpPr>
          <p:nvPr/>
        </p:nvCxnSpPr>
        <p:spPr>
          <a:xfrm>
            <a:off x="10300447" y="1922928"/>
            <a:ext cx="0" cy="100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5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F81FC-DAAD-4348-BB37-4D1670BFF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028695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5190EA-77D0-425E-B12C-5DD5FE4F6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" y="0"/>
            <a:ext cx="12176798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4691815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A5F6-1BE8-4180-8F94-2F10E60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349" y="235794"/>
            <a:ext cx="7294191" cy="86907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28EA6-17C7-4D90-AF6A-52E08093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396" y="1974198"/>
            <a:ext cx="4200941" cy="241850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Trends over time: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volume consistently peaked in Quarter-4, highlighting the importance of seasonal campaigns. Quarter-1 and Quarter-2 showed potential for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34B27-93C0-4EE8-B1E9-7B34FB93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19" y="1857090"/>
            <a:ext cx="4751294" cy="24185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C251FA1F-A7FD-462D-B8E4-C6AFE3A1B8A5}"/>
              </a:ext>
            </a:extLst>
          </p:cNvPr>
          <p:cNvSpPr/>
          <p:nvPr/>
        </p:nvSpPr>
        <p:spPr>
          <a:xfrm>
            <a:off x="5195048" y="2717287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6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9AC3-0B68-47A2-9C1E-04DF66E2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47" y="228601"/>
            <a:ext cx="9404723" cy="829235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3ED4EC-9218-4959-9B2D-364FABB2FF23}"/>
              </a:ext>
            </a:extLst>
          </p:cNvPr>
          <p:cNvSpPr txBox="1"/>
          <p:nvPr/>
        </p:nvSpPr>
        <p:spPr>
          <a:xfrm>
            <a:off x="1326778" y="1819836"/>
            <a:ext cx="32272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revenue analysis: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West region contributed the most revenue 31.3%, followed by the East 29.4%. 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138C1C-A2A9-4FA2-8633-CD0B6400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77" y="1388607"/>
            <a:ext cx="5047129" cy="21614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0DAB22-BA4E-4DEA-BB79-7379F37AD6CC}"/>
              </a:ext>
            </a:extLst>
          </p:cNvPr>
          <p:cNvSpPr txBox="1"/>
          <p:nvPr/>
        </p:nvSpPr>
        <p:spPr>
          <a:xfrm>
            <a:off x="1326778" y="4231819"/>
            <a:ext cx="39175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 customer segments, Consumers drove $5.8M in revenue, which highlights Consumers as our most valuable segment.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F8F07C-B2A4-4FEB-9D2F-832456A7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177" y="4007225"/>
            <a:ext cx="5047130" cy="21614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D6686177-1E46-4716-ADF8-8171DB8CF2B0}"/>
              </a:ext>
            </a:extLst>
          </p:cNvPr>
          <p:cNvSpPr/>
          <p:nvPr/>
        </p:nvSpPr>
        <p:spPr>
          <a:xfrm>
            <a:off x="5488642" y="2133839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Striped Right 18">
            <a:extLst>
              <a:ext uri="{FF2B5EF4-FFF2-40B4-BE49-F238E27FC236}">
                <a16:creationId xmlns:a16="http://schemas.microsoft.com/office/drawing/2014/main" id="{D237A782-1266-40A9-A495-3C12CADF1AB1}"/>
              </a:ext>
            </a:extLst>
          </p:cNvPr>
          <p:cNvSpPr/>
          <p:nvPr/>
        </p:nvSpPr>
        <p:spPr>
          <a:xfrm>
            <a:off x="5488642" y="4603942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0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0D07-0F2C-4A37-8B28-9FEC9283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876" y="147918"/>
            <a:ext cx="9404723" cy="811306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9B53C-10A8-4195-A217-D49EAE34A451}"/>
              </a:ext>
            </a:extLst>
          </p:cNvPr>
          <p:cNvSpPr txBox="1"/>
          <p:nvPr/>
        </p:nvSpPr>
        <p:spPr>
          <a:xfrm>
            <a:off x="354107" y="1472479"/>
            <a:ext cx="3792069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performed categories: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top-performing category is Technology, contributing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$4.08M to revenue.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752A8-A035-45DE-BF8C-EC56103B30B9}"/>
              </a:ext>
            </a:extLst>
          </p:cNvPr>
          <p:cNvSpPr txBox="1"/>
          <p:nvPr/>
        </p:nvSpPr>
        <p:spPr>
          <a:xfrm>
            <a:off x="354106" y="3871261"/>
            <a:ext cx="4253753" cy="219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Sub-Category wise sold Quantity:</a:t>
            </a:r>
          </a:p>
          <a:p>
            <a:pPr algn="just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Interestingly, Office Supplies drives the highest quantity sold 22.9K units, with sub-categories like Binders 6K and Paper 5.2K being the most popular.</a:t>
            </a:r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A08FB699-4478-4BEE-934A-4B65FB311D89}"/>
              </a:ext>
            </a:extLst>
          </p:cNvPr>
          <p:cNvSpPr/>
          <p:nvPr/>
        </p:nvSpPr>
        <p:spPr>
          <a:xfrm>
            <a:off x="4710953" y="1771098"/>
            <a:ext cx="99508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AA089556-7475-4EB7-A7E4-D2B910CC10D4}"/>
              </a:ext>
            </a:extLst>
          </p:cNvPr>
          <p:cNvSpPr/>
          <p:nvPr/>
        </p:nvSpPr>
        <p:spPr>
          <a:xfrm>
            <a:off x="4710953" y="4388790"/>
            <a:ext cx="99508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19943E-1328-4ED7-AD35-D693B3630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00"/>
          <a:stretch/>
        </p:blipFill>
        <p:spPr>
          <a:xfrm>
            <a:off x="6270812" y="1178292"/>
            <a:ext cx="4298576" cy="1883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EBD9B9-D495-4931-9D1A-27072266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812" y="3644085"/>
            <a:ext cx="4298576" cy="2191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43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A5F6-1BE8-4180-8F94-2F10E60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467" y="188758"/>
            <a:ext cx="6550121" cy="107722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28EA6-17C7-4D90-AF6A-52E08093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18" y="1400457"/>
            <a:ext cx="4589930" cy="36018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Analysis:</a:t>
            </a:r>
          </a:p>
          <a:p>
            <a:pPr marL="0" indent="0" algn="just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some sub-categories, like Copiers and Phones, generated significant profits of $56K and $45K, others, such as Bookcases, Tables and Supplies, incurred losses of $18K and $1K. These are need to have a closer look at production costs and discount strategies in these underperforming areas.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719D5-D8B1-40AE-9A06-14FE1034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247" y="1552857"/>
            <a:ext cx="4589931" cy="3063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F728E488-4F6B-44D6-874B-C254734A0A52}"/>
              </a:ext>
            </a:extLst>
          </p:cNvPr>
          <p:cNvSpPr/>
          <p:nvPr/>
        </p:nvSpPr>
        <p:spPr>
          <a:xfrm>
            <a:off x="5266765" y="2586883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8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A5F6-1BE8-4180-8F94-2F10E60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467" y="188758"/>
            <a:ext cx="6603909" cy="91390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28EA6-17C7-4D90-AF6A-52E08093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5" y="1928391"/>
            <a:ext cx="4589930" cy="20150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 Analysis: </a:t>
            </a:r>
          </a:p>
          <a:p>
            <a:pPr marL="0" indent="0" algn="just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 are an area of concern, particularly in Binders and Paper, which have return rates of 27.27% and 24.53%, respectively.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F9D7C6-657A-48E3-BDB0-E597A29C1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008" y="1579751"/>
            <a:ext cx="4304322" cy="29563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1FA4B5DD-AAF3-48C0-9B24-43705C7F0454}"/>
              </a:ext>
            </a:extLst>
          </p:cNvPr>
          <p:cNvSpPr/>
          <p:nvPr/>
        </p:nvSpPr>
        <p:spPr>
          <a:xfrm>
            <a:off x="5266765" y="2586883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6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7F6ACA-2A0B-49B1-AD7F-0882C0933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096" y="1578840"/>
            <a:ext cx="5020236" cy="26704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D1F379-6F89-4A38-AFFD-EB214DE81408}"/>
              </a:ext>
            </a:extLst>
          </p:cNvPr>
          <p:cNvSpPr/>
          <p:nvPr/>
        </p:nvSpPr>
        <p:spPr>
          <a:xfrm>
            <a:off x="2850650" y="151510"/>
            <a:ext cx="62843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Diagnoses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2F36F-A60D-4460-926D-DA087D61B30C}"/>
              </a:ext>
            </a:extLst>
          </p:cNvPr>
          <p:cNvSpPr txBox="1"/>
          <p:nvPr/>
        </p:nvSpPr>
        <p:spPr>
          <a:xfrm>
            <a:off x="385482" y="2245445"/>
            <a:ext cx="33617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Analysis: </a:t>
            </a:r>
          </a:p>
          <a:p>
            <a:pPr algn="just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We’re projected to reach $1.6M by 2020, reflecting steady growth. </a:t>
            </a:r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01D687F6-CC46-4909-911F-FF6D7CA5CF09}"/>
              </a:ext>
            </a:extLst>
          </p:cNvPr>
          <p:cNvSpPr/>
          <p:nvPr/>
        </p:nvSpPr>
        <p:spPr>
          <a:xfrm>
            <a:off x="4567518" y="2619664"/>
            <a:ext cx="900952" cy="6981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92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1706-E7BF-4BE5-9484-C59F864C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47" y="264459"/>
            <a:ext cx="5685022" cy="73062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68085-23EE-49A0-876E-9431CF2B5811}"/>
              </a:ext>
            </a:extLst>
          </p:cNvPr>
          <p:cNvSpPr txBox="1"/>
          <p:nvPr/>
        </p:nvSpPr>
        <p:spPr>
          <a:xfrm>
            <a:off x="2559423" y="1649507"/>
            <a:ext cx="68414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revenue spike due to seasonal demand, holiday sales, and end-of-year purchasing trends.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revenue generates by Technology.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sub-categories (Binders, Paper) had notably high return rates, indicating potential quality or customer satisfaction issues.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Bookcases, Tables and Supplies, incurred losses due to high discounts.</a:t>
            </a:r>
          </a:p>
        </p:txBody>
      </p:sp>
    </p:spTree>
    <p:extLst>
      <p:ext uri="{BB962C8B-B14F-4D97-AF65-F5344CB8AC3E}">
        <p14:creationId xmlns:p14="http://schemas.microsoft.com/office/powerpoint/2010/main" val="170460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A6F5-CAC0-4C42-9585-E904792A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879" y="449469"/>
            <a:ext cx="7141792" cy="82352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BF8A-939D-4AD4-8280-CDFA1D95C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879" y="1747122"/>
            <a:ext cx="8109554" cy="374824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Time Revenue: Focus on Q4 Campaigns, allocate more marketing and inventory resources to maximize seasonal demand. Boost Q1 and Q2 sales launch targeted promotions or discounts to improve early-year performance.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Low-Profit Sub-Categories</a:t>
            </a:r>
            <a:r>
              <a:rPr lang="en-US" sz="2200" dirty="0"/>
              <a:t>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Reassess pricing, cost, and discount strategies for Tables and Supplies.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Returns: High discounts are a likely contributing factor to the underperformance of sub categories like Tables, Supplies, and high-return items like Binders and Paper. Strategic discounting can mitigate this issue.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472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534F-3D25-419D-8A1C-7E99CC23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220" y="2354468"/>
            <a:ext cx="7958331" cy="107453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You🙂</a:t>
            </a:r>
          </a:p>
        </p:txBody>
      </p:sp>
    </p:spTree>
    <p:extLst>
      <p:ext uri="{BB962C8B-B14F-4D97-AF65-F5344CB8AC3E}">
        <p14:creationId xmlns:p14="http://schemas.microsoft.com/office/powerpoint/2010/main" val="2908691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877</TotalTime>
  <Words>579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Wingdings 3</vt:lpstr>
      <vt:lpstr>Ion</vt:lpstr>
      <vt:lpstr>Dashboard Presentation</vt:lpstr>
      <vt:lpstr>Project Goal</vt:lpstr>
      <vt:lpstr>Data collection and preprocessing </vt:lpstr>
      <vt:lpstr>Data collection and preprocessing </vt:lpstr>
      <vt:lpstr>Analysis</vt:lpstr>
      <vt:lpstr>Descriptive Analysis </vt:lpstr>
      <vt:lpstr>Diagnostic Analysis</vt:lpstr>
      <vt:lpstr>Predictive Analysis</vt:lpstr>
      <vt:lpstr>Key Performance Indicators</vt:lpstr>
      <vt:lpstr>PowerPoint Presentation</vt:lpstr>
      <vt:lpstr>PowerPoint Presentation</vt:lpstr>
      <vt:lpstr>Key Insights and Diagnoses</vt:lpstr>
      <vt:lpstr>Key Insights and Diagnoses</vt:lpstr>
      <vt:lpstr>Key Insights and Diagnoses</vt:lpstr>
      <vt:lpstr>Key Insights and Diagnoses</vt:lpstr>
      <vt:lpstr>Key Insights and Diagnoses</vt:lpstr>
      <vt:lpstr>PowerPoint Presentation</vt:lpstr>
      <vt:lpstr>Final Findings</vt:lpstr>
      <vt:lpstr>Recommendations</vt:lpstr>
      <vt:lpstr>Thank You🙂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Presentation</dc:title>
  <dc:creator>PC</dc:creator>
  <cp:lastModifiedBy>PC</cp:lastModifiedBy>
  <cp:revision>73</cp:revision>
  <dcterms:created xsi:type="dcterms:W3CDTF">2025-07-16T09:03:56Z</dcterms:created>
  <dcterms:modified xsi:type="dcterms:W3CDTF">2025-11-19T15:56:56Z</dcterms:modified>
</cp:coreProperties>
</file>